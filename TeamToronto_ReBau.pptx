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CPM5KErXKgVBGMq8tjeNQCV7a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nter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.fntdata"/><Relationship Id="rId6" Type="http://schemas.openxmlformats.org/officeDocument/2006/relationships/slide" Target="slides/slide2.xml"/><Relationship Id="rId18" Type="http://schemas.openxmlformats.org/officeDocument/2006/relationships/font" Target="fonts/In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bbc1bc983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ebbc1bc983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ebbc1bc983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hyperlink" Target="http://drive.google.com/file/d/1a8EFRu1K685J3hUsTOXsh98Uz8W9Q9XT/view" TargetMode="External"/><Relationship Id="rId6" Type="http://schemas.openxmlformats.org/officeDocument/2006/relationships/image" Target="../media/image8.png"/><Relationship Id="rId7" Type="http://schemas.openxmlformats.org/officeDocument/2006/relationships/hyperlink" Target="http://drive.google.com/file/d/1W5w83LthVljrDcD9OK931rfE50lewOhA/view" TargetMode="External"/><Relationship Id="rId8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4.pn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9.png"/><Relationship Id="rId5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Relationship Id="rId7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9.png"/><Relationship Id="rId7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10" Type="http://schemas.openxmlformats.org/officeDocument/2006/relationships/image" Target="../media/image3.jp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 need an backgrounnd iamge where There like crushed paper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438447" cy="70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title="ReBau Logo.jpeg"/>
          <p:cNvPicPr preferRelativeResize="0"/>
          <p:nvPr/>
        </p:nvPicPr>
        <p:blipFill rotWithShape="1">
          <a:blip r:embed="rId4">
            <a:alphaModFix/>
          </a:blip>
          <a:srcRect b="0" l="10140" r="-10140" t="0"/>
          <a:stretch/>
        </p:blipFill>
        <p:spPr>
          <a:xfrm>
            <a:off x="1102965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title="WhatsApp Image 2026-06-12 at 18.08.42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8925" y="640607"/>
            <a:ext cx="7714974" cy="64350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 txBox="1"/>
          <p:nvPr/>
        </p:nvSpPr>
        <p:spPr>
          <a:xfrm>
            <a:off x="0" y="0"/>
            <a:ext cx="62589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Imagine ….</a:t>
            </a:r>
            <a:endParaRPr b="1" i="0" sz="7200" u="none" cap="none" strike="noStrik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1171050" y="519800"/>
            <a:ext cx="66309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50"/>
              <a:buFont typeface="Inter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Germany's Waste Crisis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171050" y="998934"/>
            <a:ext cx="760294" cy="179884"/>
          </a:xfrm>
          <a:prstGeom prst="roundRect">
            <a:avLst>
              <a:gd fmla="val 20798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237822" y="1032272"/>
            <a:ext cx="1236334" cy="1132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171050" y="1205012"/>
            <a:ext cx="6176709" cy="695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8B2500"/>
              </a:buClr>
              <a:buSzPts val="4350"/>
              <a:buFont typeface="Inter"/>
              <a:buNone/>
            </a:pPr>
            <a:r>
              <a:rPr b="1" i="0" lang="en-US" sz="435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207.9M</a:t>
            </a:r>
            <a:endParaRPr b="0" i="0" sz="4350" u="none" cap="none" strike="noStrik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71050" y="1999159"/>
            <a:ext cx="10459181" cy="14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million tonnes</a:t>
            </a: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of waste created in Germany every year -  and construction is at the heart of it.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71050" y="5936456"/>
            <a:ext cx="10459181" cy="141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Source: Federal Statistical Office, 2020. Total waste generation in Germany 2000–2020 (million tonnes), including hazardous waste.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172" y="6203454"/>
            <a:ext cx="88997" cy="8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 title="Screenshot 2026-06-12 at 17.55.4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0550" y="2140650"/>
            <a:ext cx="6607485" cy="36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title="ReBau Logo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661574" y="782538"/>
            <a:ext cx="4389923" cy="472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2950" u="none" cap="none" strike="noStrike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The Hidden Slice</a:t>
            </a:r>
            <a:endParaRPr b="0" i="0" sz="2950" u="none" cap="none" strike="noStrike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61574" y="1496913"/>
            <a:ext cx="10868547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Of Germany's </a:t>
            </a: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207.9 million tonnes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of mineral construction waste in 2022, one category is consistently overlooked - yet it holds the greatest untapped value.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3" title="Bildschirmfoto 2026-06-12 um 17.58.35.png"/>
          <p:cNvPicPr preferRelativeResize="0"/>
          <p:nvPr/>
        </p:nvPicPr>
        <p:blipFill rotWithShape="1">
          <a:blip r:embed="rId3">
            <a:alphaModFix/>
          </a:blip>
          <a:srcRect b="1437" l="0" r="0" t="1437"/>
          <a:stretch/>
        </p:blipFill>
        <p:spPr>
          <a:xfrm>
            <a:off x="661574" y="2204343"/>
            <a:ext cx="4649274" cy="3190876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661574" y="5531247"/>
            <a:ext cx="5811692" cy="435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Source: 14. Monitoring-Bericht Kreislaufwirtschaft Bau, 2024. </a:t>
            </a:r>
            <a:r>
              <a:rPr b="1" i="0" lang="en-US" sz="1150" u="none" cap="none" strike="noStrike">
                <a:solidFill>
                  <a:srgbClr val="8B2500"/>
                </a:solidFill>
                <a:latin typeface="Inter"/>
                <a:ea typeface="Inter"/>
                <a:cs typeface="Inter"/>
                <a:sym typeface="Inter"/>
              </a:rPr>
              <a:t>Baustellenabfälle (12.9 Mio. t)</a:t>
            </a: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the most reusable, most wasted segment.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6848502" y="2204343"/>
            <a:ext cx="4687869" cy="946348"/>
          </a:xfrm>
          <a:prstGeom prst="roundRect">
            <a:avLst>
              <a:gd fmla="val 6711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9708" y="2419747"/>
            <a:ext cx="189007" cy="15120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7339920" y="2350988"/>
            <a:ext cx="4045246" cy="65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Construction Waste: 12.9 Mio. t (6.2%)</a:t>
            </a:r>
            <a:r>
              <a:rPr b="0" i="0" lang="en-US" sz="1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- the segment circled in red. These are reusable construction site materials being thrown away.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848502" y="3286720"/>
            <a:ext cx="2283462" cy="1325364"/>
          </a:xfrm>
          <a:prstGeom prst="roundRect">
            <a:avLst>
              <a:gd fmla="val 4792" name="adj"/>
            </a:avLst>
          </a:prstGeom>
          <a:solidFill>
            <a:srgbClr val="CCCCC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006058" y="3444280"/>
            <a:ext cx="1890169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💶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€12.9 Billion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006058" y="3801467"/>
            <a:ext cx="1968352" cy="65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Wasted every year on materials thrown away from construction sites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252909" y="3286720"/>
            <a:ext cx="2283462" cy="1325364"/>
          </a:xfrm>
          <a:prstGeom prst="roundRect">
            <a:avLst>
              <a:gd fmla="val 4792" name="adj"/>
            </a:avLst>
          </a:prstGeom>
          <a:solidFill>
            <a:srgbClr val="CCCCC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410465" y="3444280"/>
            <a:ext cx="1890169" cy="2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☁️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9M Tonnes CO₂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410465" y="3801467"/>
            <a:ext cx="1968352" cy="653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Emitted just from disposing of these reusable construction materials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3" title="ReBau Logo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661574" y="602853"/>
            <a:ext cx="1658797" cy="355203"/>
          </a:xfrm>
          <a:prstGeom prst="roundRect">
            <a:avLst>
              <a:gd fmla="val 17880" name="adj"/>
            </a:avLst>
          </a:prstGeom>
          <a:solidFill>
            <a:srgbClr val="DADB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74978" y="659507"/>
            <a:ext cx="2041573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OPPORTUNITY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61574" y="1033661"/>
            <a:ext cx="9986117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E69138"/>
                </a:solidFill>
                <a:latin typeface="Inter"/>
                <a:ea typeface="Inter"/>
                <a:cs typeface="Inter"/>
                <a:sym typeface="Inter"/>
              </a:rPr>
              <a:t>Reuse First. Recycle Only When Needed.</a:t>
            </a:r>
            <a:endParaRPr b="0" i="0" sz="3700" u="none" cap="none" strike="noStrike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45035" y="2120404"/>
            <a:ext cx="11194671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1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"Reuse first. Recycle only when needed."</a:t>
            </a: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 </a:t>
            </a:r>
            <a:r>
              <a:rPr b="1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European Commission, EU Circular Economy Strategy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61574" y="2848074"/>
            <a:ext cx="10868547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If we stop throwing away reusable construction materials, the impact is enormous. The EU Circular Economy Strategy makes clear that reuse delivers far greater value than recycling - both financially and environmentally.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61574" y="3665538"/>
            <a:ext cx="3496778" cy="2009080"/>
          </a:xfrm>
          <a:prstGeom prst="roundRect">
            <a:avLst>
              <a:gd fmla="val 3951" name="adj"/>
            </a:avLst>
          </a:prstGeom>
          <a:solidFill>
            <a:schemeClr val="accent2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210706" y="4465074"/>
            <a:ext cx="2398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💶</a:t>
            </a: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€6.7 Billion Saved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347359" y="3665538"/>
            <a:ext cx="3496877" cy="2009080"/>
          </a:xfrm>
          <a:prstGeom prst="roundRect">
            <a:avLst>
              <a:gd fmla="val 3951" name="adj"/>
            </a:avLst>
          </a:prstGeom>
          <a:solidFill>
            <a:schemeClr val="accent2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97291" y="4465087"/>
            <a:ext cx="2397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🌿</a:t>
            </a: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2× CO₂ Reduction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033244" y="3665538"/>
            <a:ext cx="3496877" cy="2009080"/>
          </a:xfrm>
          <a:prstGeom prst="roundRect">
            <a:avLst>
              <a:gd fmla="val 3951" name="adj"/>
            </a:avLst>
          </a:prstGeom>
          <a:solidFill>
            <a:schemeClr val="accent2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245238" y="4465087"/>
            <a:ext cx="3072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❓</a:t>
            </a:r>
            <a:r>
              <a:rPr b="1" i="0" lang="en-US" sz="1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But How Do We REUSE?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" title="ReBau Logo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1850284" y="558899"/>
            <a:ext cx="3009229" cy="299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How ReBau Works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850284" y="878284"/>
            <a:ext cx="4267788" cy="149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Capture to Marketplace in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858658" y="1700643"/>
            <a:ext cx="989455" cy="15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858658" y="1900022"/>
            <a:ext cx="989455" cy="18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Smartphone photo of materials on site.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48791" y="1653816"/>
            <a:ext cx="989454" cy="15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48791" y="1853195"/>
            <a:ext cx="989454" cy="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 detection (52% acc, 300 images trained).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858745" y="3143900"/>
            <a:ext cx="989454" cy="15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Cloud AI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348791" y="3143900"/>
            <a:ext cx="989454" cy="15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Inter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ReBau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4179" y="6179344"/>
            <a:ext cx="76694" cy="7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 title="ReBau Logo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5" title="WhatsApp Video 2026-06-12 at 17.50.59 (1)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1189725"/>
            <a:ext cx="11525250" cy="551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5" title="WhatsApp Video 2026-06-12 at 17.50.59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0566" y="0"/>
            <a:ext cx="1181054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911995" y="572361"/>
            <a:ext cx="379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Upload. Analyze. Save.</a:t>
            </a:r>
            <a:endParaRPr b="0" i="0" sz="22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11995" y="953361"/>
            <a:ext cx="437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building plan to circular procurement in seconds.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8975" y="1447841"/>
            <a:ext cx="5849395" cy="21175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3600562" y="3027305"/>
            <a:ext cx="1465318" cy="18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Cart &amp; Savings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600562" y="2389062"/>
            <a:ext cx="1465318" cy="18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Analyzes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600562" y="1744305"/>
            <a:ext cx="1465318" cy="183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Upload Plans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86120" y="3688358"/>
            <a:ext cx="2816055" cy="176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How Smart Plan Analysis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86120" y="3941564"/>
            <a:ext cx="254787" cy="254794"/>
          </a:xfrm>
          <a:prstGeom prst="roundRect">
            <a:avLst>
              <a:gd fmla="val 1867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128585" y="3962797"/>
            <a:ext cx="169858" cy="212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1408772" y="3980458"/>
            <a:ext cx="1710191" cy="18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📄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Upload Building Plans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1408772" y="4231580"/>
            <a:ext cx="4548967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Construction companies upload project plans (PDF/CAD) with their required materials list. Example: 500 m² timber beams · 200 steel rods · 80 window frames.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86120" y="4657229"/>
            <a:ext cx="254787" cy="254794"/>
          </a:xfrm>
          <a:prstGeom prst="roundRect">
            <a:avLst>
              <a:gd fmla="val 1867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28585" y="4678462"/>
            <a:ext cx="169858" cy="212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408772" y="4696123"/>
            <a:ext cx="2123327" cy="18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🔍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ReBau Analyzes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408772" y="4947245"/>
            <a:ext cx="4548967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Our AI cross-references every line item against live ReBau marketplace inventory - matching by material type, quantity, and condition grade.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86120" y="5372894"/>
            <a:ext cx="254787" cy="254794"/>
          </a:xfrm>
          <a:prstGeom prst="roundRect">
            <a:avLst>
              <a:gd fmla="val 1867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28585" y="5394127"/>
            <a:ext cx="169858" cy="212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408772" y="5411788"/>
            <a:ext cx="1721204" cy="18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🛒</a:t>
            </a: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Cart + Savings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408772" y="5662910"/>
            <a:ext cx="4548967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Matched reclaimed materials are added to cart automatically. A summary card shows total </a:t>
            </a:r>
            <a:r>
              <a:rPr b="1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€ saved</a:t>
            </a: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vs. buying new and total </a:t>
            </a:r>
            <a:r>
              <a:rPr b="1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CO₂ tonnes avoided</a:t>
            </a:r>
            <a:r>
              <a:rPr b="0" i="0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240306" y="3696791"/>
            <a:ext cx="4871618" cy="1199455"/>
          </a:xfrm>
          <a:prstGeom prst="roundRect">
            <a:avLst>
              <a:gd fmla="val 3966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6" name="Google Shape;11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512" y="3808809"/>
            <a:ext cx="176903" cy="14148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6"/>
          <p:cNvSpPr/>
          <p:nvPr/>
        </p:nvSpPr>
        <p:spPr>
          <a:xfrm>
            <a:off x="6643621" y="3792934"/>
            <a:ext cx="2359561" cy="18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📋 Example Savings 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643621" y="4044057"/>
            <a:ext cx="4355098" cy="7628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Project: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"Residential Block München Nord"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1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Materials matched: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14 of 22 line items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💶 </a:t>
            </a:r>
            <a:r>
              <a:rPr b="1" i="0" lang="en-US" sz="8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€ Saved: €34,200</a:t>
            </a: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vs. new materials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🌿 </a:t>
            </a:r>
            <a:r>
              <a:rPr b="1" i="0" lang="en-US" sz="850" u="none" cap="none" strike="noStrike">
                <a:solidFill>
                  <a:srgbClr val="2E7D32"/>
                </a:solidFill>
                <a:latin typeface="Inter"/>
                <a:ea typeface="Inter"/>
                <a:cs typeface="Inter"/>
                <a:sym typeface="Inter"/>
              </a:rPr>
              <a:t>CO₂ Avoided: 8.4 tonnes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410165" y="5033566"/>
            <a:ext cx="5311344" cy="144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Stop procuring new. Start procuring smart.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6" title="ReBau Logo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911748" y="710704"/>
            <a:ext cx="439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Business Model &amp; Market Size</a:t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911748" y="1056283"/>
            <a:ext cx="22914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Circular Economy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748" y="1317620"/>
            <a:ext cx="5943651" cy="33173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911748" y="4754992"/>
            <a:ext cx="1934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€25B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232712" y="5190066"/>
            <a:ext cx="1292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Annual Market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911748" y="5385329"/>
            <a:ext cx="193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Yearly spending on construction materials in Germany alone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916512" y="4754992"/>
            <a:ext cx="1934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10%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28944" y="5190066"/>
            <a:ext cx="13092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Second-Hand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916512" y="5385329"/>
            <a:ext cx="193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Second-hand adoption unlocks a </a:t>
            </a: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€2.5B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addressable market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921275" y="4754992"/>
            <a:ext cx="1934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€12.5M</a:t>
            </a:r>
            <a:endParaRPr b="0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242240" y="5190066"/>
            <a:ext cx="12921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Revenue Potential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921275" y="5385329"/>
            <a:ext cx="1934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Capturing 5% of the market at 10% commission = €12.5M 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911748" y="5807440"/>
            <a:ext cx="5943600" cy="408900"/>
          </a:xfrm>
          <a:prstGeom prst="roundRect">
            <a:avLst>
              <a:gd fmla="val 10615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032" y="5936523"/>
            <a:ext cx="129180" cy="10328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1247495" y="5884037"/>
            <a:ext cx="5504700" cy="255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Model: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ReBau charges a </a:t>
            </a:r>
            <a:r>
              <a:rPr b="1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10% commission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 every transaction between buyers and sellers of reclaimed construction materials.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7" title="ReBau Logo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661574" y="725091"/>
            <a:ext cx="4626157" cy="5020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Inter"/>
              <a:buNone/>
            </a:pPr>
            <a:r>
              <a:rPr b="1" i="0" lang="en-US" sz="315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Why ReBau?</a:t>
            </a:r>
            <a:endParaRPr b="0" i="0" sz="31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61574" y="1281708"/>
            <a:ext cx="4356487" cy="251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Inter"/>
              <a:buNone/>
            </a:pPr>
            <a:r>
              <a:rPr b="1" i="0" lang="en-US" sz="1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How we compare to existing platforms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61574" y="1737519"/>
            <a:ext cx="10868547" cy="2987873"/>
          </a:xfrm>
          <a:prstGeom prst="roundRect">
            <a:avLst>
              <a:gd fmla="val 225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67924" y="1743869"/>
            <a:ext cx="2713962" cy="4236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828555" y="1832074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381886" y="1743869"/>
            <a:ext cx="2713962" cy="4236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545692" y="1832074"/>
            <a:ext cx="2995934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Concular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095848" y="1743869"/>
            <a:ext cx="2713962" cy="4236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259654" y="1832074"/>
            <a:ext cx="2995934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CircoTRADE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8809809" y="1743869"/>
            <a:ext cx="2713962" cy="423664"/>
          </a:xfrm>
          <a:prstGeom prst="rect">
            <a:avLst/>
          </a:prstGeom>
          <a:solidFill>
            <a:srgbClr val="8B25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8973615" y="1832074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ReBau 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28555" y="2258913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AI Material Recognition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545692" y="2258913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259654" y="2258913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8973615" y="2258913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28555" y="2685752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Value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545692" y="2685752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259654" y="2685752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973615" y="2685752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828555" y="3112591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CO₂ Impact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545692" y="3112591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259654" y="3112591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Partial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8973615" y="3112591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828555" y="3539430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Instant Matching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545692" y="3539430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259654" y="3539430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973615" y="3539430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28555" y="3966270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Internal Reuse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545692" y="3966270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259654" y="3966270"/>
            <a:ext cx="2995934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8973615" y="3966270"/>
            <a:ext cx="2999109" cy="24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28555" y="4393109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Marketplace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545692" y="4393109"/>
            <a:ext cx="2995934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59654" y="4393109"/>
            <a:ext cx="2995934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973615" y="4393109"/>
            <a:ext cx="2999109" cy="237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✓ + Automated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61574" y="4878983"/>
            <a:ext cx="10868547" cy="801291"/>
          </a:xfrm>
          <a:prstGeom prst="roundRect">
            <a:avLst>
              <a:gd fmla="val 8421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205" y="5097859"/>
            <a:ext cx="200814" cy="160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1183650" y="5041900"/>
            <a:ext cx="10185840" cy="47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ReBau is the only platform</a:t>
            </a:r>
            <a:r>
              <a:rPr b="0" i="0" lang="en-US" sz="1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combining AI material recognition, real-time valuation, CO₂ tracking, instant matching, internal reuse, and a fully automated marketplace — all in one solution.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8" title="ReBau Logo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9500" y="-392483"/>
            <a:ext cx="4833549" cy="72504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/>
          <p:nvPr/>
        </p:nvSpPr>
        <p:spPr>
          <a:xfrm>
            <a:off x="661475" y="659805"/>
            <a:ext cx="4153590" cy="44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0"/>
              <a:buFont typeface="Inter"/>
              <a:buNone/>
            </a:pPr>
            <a:r>
              <a:rPr b="1" i="0" lang="en-US" sz="295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b="0" i="0" sz="295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61475" y="1262261"/>
            <a:ext cx="629686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ReBau delivers measurable value across three dimensions - financial, environmental, and operational - transforming how the construction industry handles materials.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61475" y="1778695"/>
            <a:ext cx="3095250" cy="2148483"/>
          </a:xfrm>
          <a:prstGeom prst="roundRect">
            <a:avLst>
              <a:gd fmla="val 2771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809506" y="1926729"/>
            <a:ext cx="425241" cy="425252"/>
          </a:xfrm>
          <a:prstGeom prst="roundRect">
            <a:avLst>
              <a:gd fmla="val 1791701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482" y="2043609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809506" y="2458244"/>
            <a:ext cx="1772003" cy="22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💰</a:t>
            </a: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Financial Impact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09506" y="2749748"/>
            <a:ext cx="2799189" cy="102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€6.7B saved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annually across the 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20–70% value recovery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per component depending on material type and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3862985" y="1778695"/>
            <a:ext cx="3095349" cy="2148483"/>
          </a:xfrm>
          <a:prstGeom prst="roundRect">
            <a:avLst>
              <a:gd fmla="val 2771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4011016" y="1926729"/>
            <a:ext cx="425241" cy="425252"/>
          </a:xfrm>
          <a:prstGeom prst="roundRect">
            <a:avLst>
              <a:gd fmla="val 1791701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7992" y="2043609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4011016" y="2458244"/>
            <a:ext cx="2150612" cy="22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🌱</a:t>
            </a: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Environmental Impact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011016" y="2749748"/>
            <a:ext cx="2799288" cy="830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8M tonnes CO₂ avoided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annually through material reuse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12.9M tonnes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of construction waste diverted from landfill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661475" y="4033441"/>
            <a:ext cx="6296860" cy="1788815"/>
          </a:xfrm>
          <a:prstGeom prst="roundRect">
            <a:avLst>
              <a:gd fmla="val 3329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809506" y="4181475"/>
            <a:ext cx="425241" cy="425252"/>
          </a:xfrm>
          <a:prstGeom prst="roundRect">
            <a:avLst>
              <a:gd fmla="val 17917011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06" name="Google Shape;20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6482" y="4298355"/>
            <a:ext cx="191289" cy="19129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809506" y="4712990"/>
            <a:ext cx="1909715" cy="22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⚙️</a:t>
            </a:r>
            <a:r>
              <a:rPr b="1" i="0" lang="en-US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Operational Impact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09506" y="5004495"/>
            <a:ext cx="6000798" cy="669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40% faster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on-site material sorting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1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15–20% fewer</a:t>
            </a: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new material purchases per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Char char="•"/>
            </a:pPr>
            <a:r>
              <a:rPr b="0" i="0" lang="en-US" sz="1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Easy real-time inventory tracking across all sites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 title="ReBau Logo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661574" y="652363"/>
            <a:ext cx="4862490" cy="531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Inter"/>
              <a:buNone/>
            </a:pPr>
            <a:r>
              <a:rPr b="1" i="0" lang="en-US" sz="330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Expenses</a:t>
            </a:r>
            <a:endParaRPr b="0" i="0" sz="33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61574" y="1245195"/>
            <a:ext cx="7297753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Three-Phase Investment Plan - Total: €250,000 over 12 Months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916659" y="2420838"/>
            <a:ext cx="3265604" cy="170061"/>
          </a:xfrm>
          <a:prstGeom prst="roundRect">
            <a:avLst>
              <a:gd fmla="val 42014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61574" y="2250728"/>
            <a:ext cx="510269" cy="510282"/>
          </a:xfrm>
          <a:prstGeom prst="roundRect">
            <a:avLst>
              <a:gd fmla="val 7466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166" y="2378323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/>
          <p:nvPr/>
        </p:nvSpPr>
        <p:spPr>
          <a:xfrm>
            <a:off x="831631" y="2914154"/>
            <a:ext cx="2126403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📊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Initial MVP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31631" y="3271639"/>
            <a:ext cx="3180675" cy="1034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8B25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8B2500"/>
                </a:solidFill>
                <a:latin typeface="Inter"/>
                <a:ea typeface="Inter"/>
                <a:cs typeface="Inter"/>
                <a:sym typeface="Inter"/>
              </a:rPr>
              <a:t>€50,000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Core AI model development, basic marketplace UI, initial testing with pilot construction partners.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590538" y="2165648"/>
            <a:ext cx="3265604" cy="170061"/>
          </a:xfrm>
          <a:prstGeom prst="roundRect">
            <a:avLst>
              <a:gd fmla="val 42014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335453" y="1995537"/>
            <a:ext cx="510269" cy="510282"/>
          </a:xfrm>
          <a:prstGeom prst="roundRect">
            <a:avLst>
              <a:gd fmla="val 7466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3045" y="2123132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4505510" y="2658963"/>
            <a:ext cx="3180675" cy="531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↔️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Commercial Pilot (3–6 months)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05510" y="3282156"/>
            <a:ext cx="3180675" cy="1034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8B25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8B2500"/>
                </a:solidFill>
                <a:latin typeface="Inter"/>
                <a:ea typeface="Inter"/>
                <a:cs typeface="Inter"/>
                <a:sym typeface="Inter"/>
              </a:rPr>
              <a:t>€70,000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Onboard first paying customers, refine AI accuracy, build Smart Plan Analysis feature, expand material categories.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264417" y="1910556"/>
            <a:ext cx="3265604" cy="170061"/>
          </a:xfrm>
          <a:prstGeom prst="roundRect">
            <a:avLst>
              <a:gd fmla="val 42014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009332" y="1740446"/>
            <a:ext cx="510269" cy="510282"/>
          </a:xfrm>
          <a:prstGeom prst="roundRect">
            <a:avLst>
              <a:gd fmla="val 74665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6925" y="1868041"/>
            <a:ext cx="255085" cy="255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8179389" y="2403872"/>
            <a:ext cx="3012900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🚀</a:t>
            </a: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Full Launch (6–12 months)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179389" y="2761357"/>
            <a:ext cx="3180675" cy="1034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8B250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8B2500"/>
                </a:solidFill>
                <a:latin typeface="Inter"/>
                <a:ea typeface="Inter"/>
                <a:cs typeface="Inter"/>
                <a:sym typeface="Inter"/>
              </a:rPr>
              <a:t>€130,000</a:t>
            </a:r>
            <a:r>
              <a:rPr b="0" i="0" lang="en-US" sz="13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Full platform launch, marketing campaign, sales team, infrastructure scaling, DaCH market preparation.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61574" y="4658717"/>
            <a:ext cx="10868547" cy="1053108"/>
          </a:xfrm>
          <a:prstGeom prst="roundRect">
            <a:avLst>
              <a:gd fmla="val 6785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1631" y="4871343"/>
            <a:ext cx="265800" cy="212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/>
          <p:nvPr/>
        </p:nvSpPr>
        <p:spPr>
          <a:xfrm>
            <a:off x="1267488" y="4854277"/>
            <a:ext cx="4867649" cy="265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🧱 Total 12-Month Investment: </a:t>
            </a:r>
            <a:r>
              <a:rPr b="1" i="0" lang="en-US" sz="1650" u="none" cap="none" strike="noStrike">
                <a:solidFill>
                  <a:srgbClr val="8B2500"/>
                </a:solidFill>
                <a:latin typeface="Inter"/>
                <a:ea typeface="Inter"/>
                <a:cs typeface="Inter"/>
                <a:sym typeface="Inter"/>
              </a:rPr>
              <a:t>€250,000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267488" y="5273080"/>
            <a:ext cx="10702161" cy="25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lean, milestone-driven budget designed to reach profitability before the end of Year 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0" title="ReBau Logo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1510667" y="402027"/>
            <a:ext cx="32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3300" u="none" cap="none" strike="noStrike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Road Map</a:t>
            </a:r>
            <a:endParaRPr b="0" i="0" sz="33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510667" y="914698"/>
            <a:ext cx="28863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Hackathon to DaCH Expansion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1510667" y="1161852"/>
            <a:ext cx="916957" cy="531515"/>
          </a:xfrm>
          <a:prstGeom prst="roundRect">
            <a:avLst>
              <a:gd fmla="val 8192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5" name="Google Shape;2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221" y="1354634"/>
            <a:ext cx="145749" cy="1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1"/>
          <p:cNvSpPr/>
          <p:nvPr/>
        </p:nvSpPr>
        <p:spPr>
          <a:xfrm>
            <a:off x="2531205" y="1265436"/>
            <a:ext cx="129576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Q2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531205" y="1461393"/>
            <a:ext cx="4862490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Hack it at FAUErlangen-Nürnberg → Connect with people, validate concept, build founding team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479415" y="1690191"/>
            <a:ext cx="8149723" cy="6350"/>
          </a:xfrm>
          <a:prstGeom prst="roundRect">
            <a:avLst>
              <a:gd fmla="val 685657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510667" y="1745159"/>
            <a:ext cx="1834013" cy="531515"/>
          </a:xfrm>
          <a:prstGeom prst="roundRect">
            <a:avLst>
              <a:gd fmla="val 8192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4799" y="1937941"/>
            <a:ext cx="145749" cy="1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3448261" y="1848743"/>
            <a:ext cx="129576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Q4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448261" y="2044700"/>
            <a:ext cx="4146446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Push MVP, continue testing with real construction sites, iterate on AI model accuracy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396470" y="2273498"/>
            <a:ext cx="7232667" cy="6350"/>
          </a:xfrm>
          <a:prstGeom prst="roundRect">
            <a:avLst>
              <a:gd fmla="val 685657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510667" y="2328466"/>
            <a:ext cx="2751069" cy="531515"/>
          </a:xfrm>
          <a:prstGeom prst="roundRect">
            <a:avLst>
              <a:gd fmla="val 8192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5" name="Google Shape;25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13277" y="2521248"/>
            <a:ext cx="145749" cy="1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4365317" y="2432050"/>
            <a:ext cx="129576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Q1 2027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365317" y="2628007"/>
            <a:ext cx="4728647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Launch Product - first paying customers, Smart Plan Analysis live, marketplace fully operational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313526" y="2856805"/>
            <a:ext cx="6315612" cy="6350"/>
          </a:xfrm>
          <a:prstGeom prst="roundRect">
            <a:avLst>
              <a:gd fmla="val 685657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510667" y="2911773"/>
            <a:ext cx="3668025" cy="531515"/>
          </a:xfrm>
          <a:prstGeom prst="roundRect">
            <a:avLst>
              <a:gd fmla="val 8192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0" name="Google Shape;26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71756" y="3104555"/>
            <a:ext cx="145749" cy="1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1"/>
          <p:cNvSpPr/>
          <p:nvPr/>
        </p:nvSpPr>
        <p:spPr>
          <a:xfrm>
            <a:off x="5282274" y="3015357"/>
            <a:ext cx="129576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Q4 2027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282274" y="3211314"/>
            <a:ext cx="4170556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Scale operations - expand team, grow marketplace listings, increase AI training data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230483" y="3440112"/>
            <a:ext cx="5398655" cy="6350"/>
          </a:xfrm>
          <a:prstGeom prst="roundRect">
            <a:avLst>
              <a:gd fmla="val 685657" name="adj"/>
            </a:avLst>
          </a:prstGeom>
          <a:solidFill>
            <a:srgbClr val="C0C1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510667" y="3495080"/>
            <a:ext cx="4585081" cy="537865"/>
          </a:xfrm>
          <a:prstGeom prst="roundRect">
            <a:avLst>
              <a:gd fmla="val 8095" name="adj"/>
            </a:avLst>
          </a:prstGeom>
          <a:solidFill>
            <a:srgbClr val="D9D9D9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5" name="Google Shape;26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30333" y="3691037"/>
            <a:ext cx="145749" cy="145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1"/>
          <p:cNvSpPr/>
          <p:nvPr/>
        </p:nvSpPr>
        <p:spPr>
          <a:xfrm>
            <a:off x="6199330" y="3598664"/>
            <a:ext cx="129576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Q1 2028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199330" y="3794621"/>
            <a:ext cx="3425045" cy="134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DaCH 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🇩🇪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🇨🇭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+ 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🇦🇹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full German-speaking market coverage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510667" y="4153694"/>
            <a:ext cx="190534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Technical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9460" y="4384576"/>
            <a:ext cx="155472" cy="15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1847407" y="4379516"/>
            <a:ext cx="4121940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Extend to </a:t>
            </a: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multimodal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(classification + object detection combined)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9460" y="4814292"/>
            <a:ext cx="155472" cy="15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1"/>
          <p:cNvSpPr/>
          <p:nvPr/>
        </p:nvSpPr>
        <p:spPr>
          <a:xfrm>
            <a:off x="1847407" y="4809232"/>
            <a:ext cx="4121940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more </a:t>
            </a: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construction-site objects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training dataset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9460" y="5244009"/>
            <a:ext cx="155472" cy="15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1847407" y="5238948"/>
            <a:ext cx="4121940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Semantic segmentation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detect damage and cut points on materials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49460" y="5673725"/>
            <a:ext cx="155472" cy="155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1847407" y="5668665"/>
            <a:ext cx="4121940" cy="128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Instance counting</a:t>
            </a:r>
            <a:r>
              <a:rPr b="0" i="0" lang="en-US" sz="8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- automatically count bags, boards, tiles in a photo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228500" y="4160738"/>
            <a:ext cx="4458680" cy="692745"/>
          </a:xfrm>
          <a:prstGeom prst="roundRect">
            <a:avLst>
              <a:gd fmla="val 6285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78" name="Google Shape;27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2081" y="4257080"/>
            <a:ext cx="161921" cy="1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1"/>
          <p:cNvSpPr/>
          <p:nvPr/>
        </p:nvSpPr>
        <p:spPr>
          <a:xfrm>
            <a:off x="6597584" y="4243487"/>
            <a:ext cx="1905349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🌿 ReBau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597584" y="4468614"/>
            <a:ext cx="3986014" cy="307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</a:t>
            </a: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cycling · Construction · Sustainability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Building the circular economy for construction - one brick at a time.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1" title="ReBau Logo.jpe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bbc1bc983_3_1"/>
          <p:cNvSpPr/>
          <p:nvPr/>
        </p:nvSpPr>
        <p:spPr>
          <a:xfrm>
            <a:off x="1510667" y="568027"/>
            <a:ext cx="32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lang="en-US" sz="20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Live Website</a:t>
            </a:r>
            <a:endParaRPr b="0" i="0" sz="20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g3ebbc1bc983_3_1" title="ReBau Logo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ebbc1bc983_3_1" title="WhatsApp Image 2026-06-12 at 18.23.08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5250" y="1026902"/>
            <a:ext cx="5661173" cy="5661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2" title="WhatsApp Image 2026-06-12 at 18.05.42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76" cy="681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4243699" y="50538"/>
            <a:ext cx="4389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0"/>
              <a:buFont typeface="Inter"/>
              <a:buNone/>
            </a:pPr>
            <a:r>
              <a:rPr b="1" i="0" lang="en-US" sz="3050" cap="none" strike="noStrike">
                <a:solidFill>
                  <a:schemeClr val="lt1"/>
                </a:solidFill>
                <a:highlight>
                  <a:srgbClr val="FF9900"/>
                </a:highlight>
                <a:latin typeface="Inter"/>
                <a:ea typeface="Inter"/>
                <a:cs typeface="Inter"/>
                <a:sym typeface="Inter"/>
              </a:rPr>
              <a:t>Our Team</a:t>
            </a:r>
            <a:endParaRPr b="0" i="0" sz="3050" cap="none" strike="noStrike">
              <a:solidFill>
                <a:schemeClr val="lt1"/>
              </a:solidFill>
              <a:highlight>
                <a:srgbClr val="FF99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12" title="ReBau Logo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5300" y="6135125"/>
            <a:ext cx="1326376" cy="72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